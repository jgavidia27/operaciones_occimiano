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3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upo 74">
            <a:extLst>
              <a:ext uri="{FF2B5EF4-FFF2-40B4-BE49-F238E27FC236}">
                <a16:creationId xmlns:a16="http://schemas.microsoft.com/office/drawing/2014/main" id="{659F6772-E864-7532-3C87-95E4D76ABED2}"/>
              </a:ext>
            </a:extLst>
          </p:cNvPr>
          <p:cNvGrpSpPr/>
          <p:nvPr/>
        </p:nvGrpSpPr>
        <p:grpSpPr>
          <a:xfrm>
            <a:off x="0" y="0"/>
            <a:ext cx="9144000" cy="4937760"/>
            <a:chOff x="0" y="0"/>
            <a:chExt cx="9144000" cy="493776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6400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pic>
          <p:nvPicPr>
            <p:cNvPr id="3" name="Image 0" descr="occim_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8328" y="100584"/>
              <a:ext cx="668045" cy="420624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1526959" y="109728"/>
              <a:ext cx="6291161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Registro de equipos y consumo</a:t>
              </a:r>
              <a:endParaRPr lang="en-US" sz="1600" dirty="0">
                <a:latin typeface="Aptos" panose="020B0004020202020204" pitchFamily="34" charset="0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1600200" y="365760"/>
              <a:ext cx="6217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SHELL  ·  Julio 2026  ·  51 registros analizados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  <p:sp>
          <p:nvSpPr>
            <p:cNvPr id="7" name="Text 3"/>
            <p:cNvSpPr/>
            <p:nvPr/>
          </p:nvSpPr>
          <p:spPr>
            <a:xfrm>
              <a:off x="274320" y="777240"/>
              <a:ext cx="85953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50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RESUMEN DEL REGISTRO  ·  COMPLETITUD DE DATOS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8" name="Shape 4"/>
            <p:cNvSpPr/>
            <p:nvPr/>
          </p:nvSpPr>
          <p:spPr>
            <a:xfrm>
              <a:off x="228600" y="1097280"/>
              <a:ext cx="2103120" cy="123444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9" name="Text 5"/>
            <p:cNvSpPr/>
            <p:nvPr/>
          </p:nvSpPr>
          <p:spPr>
            <a:xfrm>
              <a:off x="338328" y="1188720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TIPO DE BOMBA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338328" y="1371600"/>
              <a:ext cx="18836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25/51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338328" y="1700784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31C23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49.0 %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2" name="Shape 8"/>
            <p:cNvSpPr/>
            <p:nvPr/>
          </p:nvSpPr>
          <p:spPr>
            <a:xfrm>
              <a:off x="338328" y="1920240"/>
              <a:ext cx="1883664" cy="82296"/>
            </a:xfrm>
            <a:prstGeom prst="roundRect">
              <a:avLst>
                <a:gd name="adj" fmla="val 44444"/>
              </a:avLst>
            </a:prstGeom>
            <a:solidFill>
              <a:srgbClr val="E5E0D8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338328" y="1920240"/>
              <a:ext cx="922995" cy="82296"/>
            </a:xfrm>
            <a:prstGeom prst="roundRect">
              <a:avLst>
                <a:gd name="adj" fmla="val 44444"/>
              </a:avLst>
            </a:prstGeom>
            <a:solidFill>
              <a:srgbClr val="E31C23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4" name="Text 10"/>
            <p:cNvSpPr/>
            <p:nvPr/>
          </p:nvSpPr>
          <p:spPr>
            <a:xfrm>
              <a:off x="338328" y="2057400"/>
              <a:ext cx="18836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Faltan 26 registros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15" name="Shape 11"/>
            <p:cNvSpPr/>
            <p:nvPr/>
          </p:nvSpPr>
          <p:spPr>
            <a:xfrm>
              <a:off x="2468880" y="1097280"/>
              <a:ext cx="2103120" cy="123444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2578608" y="1188720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PRODUCCIÓN LTS/HR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2578608" y="1371600"/>
              <a:ext cx="18836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35/51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18" name="Text 14"/>
            <p:cNvSpPr/>
            <p:nvPr/>
          </p:nvSpPr>
          <p:spPr>
            <a:xfrm>
              <a:off x="2578608" y="1700784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67E22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68.6 %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9" name="Shape 15"/>
            <p:cNvSpPr/>
            <p:nvPr/>
          </p:nvSpPr>
          <p:spPr>
            <a:xfrm>
              <a:off x="2578608" y="1920240"/>
              <a:ext cx="1883664" cy="82296"/>
            </a:xfrm>
            <a:prstGeom prst="roundRect">
              <a:avLst>
                <a:gd name="adj" fmla="val 44444"/>
              </a:avLst>
            </a:prstGeom>
            <a:solidFill>
              <a:srgbClr val="E5E0D8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0" name="Shape 16"/>
            <p:cNvSpPr/>
            <p:nvPr/>
          </p:nvSpPr>
          <p:spPr>
            <a:xfrm>
              <a:off x="2578608" y="1920240"/>
              <a:ext cx="1292194" cy="82296"/>
            </a:xfrm>
            <a:prstGeom prst="roundRect">
              <a:avLst>
                <a:gd name="adj" fmla="val 44444"/>
              </a:avLst>
            </a:prstGeom>
            <a:solidFill>
              <a:srgbClr val="E67E22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2578608" y="2057400"/>
              <a:ext cx="18836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Faltan 16 registros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22" name="Shape 18"/>
            <p:cNvSpPr/>
            <p:nvPr/>
          </p:nvSpPr>
          <p:spPr>
            <a:xfrm>
              <a:off x="4709160" y="1097280"/>
              <a:ext cx="2103120" cy="123444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3" name="Text 19"/>
            <p:cNvSpPr/>
            <p:nvPr/>
          </p:nvSpPr>
          <p:spPr>
            <a:xfrm>
              <a:off x="4818888" y="1188720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CONSUMO CERA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24" name="Text 20"/>
            <p:cNvSpPr/>
            <p:nvPr/>
          </p:nvSpPr>
          <p:spPr>
            <a:xfrm>
              <a:off x="4818888" y="1371600"/>
              <a:ext cx="18836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46/51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25" name="Text 21"/>
            <p:cNvSpPr/>
            <p:nvPr/>
          </p:nvSpPr>
          <p:spPr>
            <a:xfrm>
              <a:off x="4818888" y="1700784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E8B57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90.2 %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26" name="Shape 22"/>
            <p:cNvSpPr/>
            <p:nvPr/>
          </p:nvSpPr>
          <p:spPr>
            <a:xfrm>
              <a:off x="4818888" y="1920240"/>
              <a:ext cx="1883664" cy="82296"/>
            </a:xfrm>
            <a:prstGeom prst="roundRect">
              <a:avLst>
                <a:gd name="adj" fmla="val 44444"/>
              </a:avLst>
            </a:prstGeom>
            <a:solidFill>
              <a:srgbClr val="E5E0D8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7" name="Shape 23"/>
            <p:cNvSpPr/>
            <p:nvPr/>
          </p:nvSpPr>
          <p:spPr>
            <a:xfrm>
              <a:off x="4818888" y="1920240"/>
              <a:ext cx="1699065" cy="82296"/>
            </a:xfrm>
            <a:prstGeom prst="roundRect">
              <a:avLst>
                <a:gd name="adj" fmla="val 44444"/>
              </a:avLst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8" name="Text 24"/>
            <p:cNvSpPr/>
            <p:nvPr/>
          </p:nvSpPr>
          <p:spPr>
            <a:xfrm>
              <a:off x="4818888" y="2057400"/>
              <a:ext cx="18836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Faltan 5 registros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29" name="Shape 25"/>
            <p:cNvSpPr/>
            <p:nvPr/>
          </p:nvSpPr>
          <p:spPr>
            <a:xfrm>
              <a:off x="6949440" y="1097280"/>
              <a:ext cx="1965960" cy="123444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30" name="Text 26"/>
            <p:cNvSpPr/>
            <p:nvPr/>
          </p:nvSpPr>
          <p:spPr>
            <a:xfrm>
              <a:off x="7059168" y="1188720"/>
              <a:ext cx="174650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CONSUMO SHAMPOO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7059168" y="1371600"/>
              <a:ext cx="1746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46/51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7059168" y="1700784"/>
              <a:ext cx="174650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E8B57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90.2 %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7059168" y="1920240"/>
              <a:ext cx="1746504" cy="82296"/>
            </a:xfrm>
            <a:prstGeom prst="roundRect">
              <a:avLst>
                <a:gd name="adj" fmla="val 44444"/>
              </a:avLst>
            </a:prstGeom>
            <a:solidFill>
              <a:srgbClr val="E5E0D8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34" name="Shape 30"/>
            <p:cNvSpPr/>
            <p:nvPr/>
          </p:nvSpPr>
          <p:spPr>
            <a:xfrm>
              <a:off x="7059168" y="1920240"/>
              <a:ext cx="1575347" cy="82296"/>
            </a:xfrm>
            <a:prstGeom prst="roundRect">
              <a:avLst>
                <a:gd name="adj" fmla="val 44444"/>
              </a:avLst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35" name="Text 31"/>
            <p:cNvSpPr/>
            <p:nvPr/>
          </p:nvSpPr>
          <p:spPr>
            <a:xfrm>
              <a:off x="7059168" y="2057400"/>
              <a:ext cx="174650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Faltan 5 registros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36" name="Shape 32"/>
            <p:cNvSpPr/>
            <p:nvPr/>
          </p:nvSpPr>
          <p:spPr>
            <a:xfrm>
              <a:off x="228600" y="2468880"/>
              <a:ext cx="2103120" cy="123444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37" name="Text 33"/>
            <p:cNvSpPr/>
            <p:nvPr/>
          </p:nvSpPr>
          <p:spPr>
            <a:xfrm>
              <a:off x="338328" y="2560320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CONSUMO CEPILLO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38" name="Text 34"/>
            <p:cNvSpPr/>
            <p:nvPr/>
          </p:nvSpPr>
          <p:spPr>
            <a:xfrm>
              <a:off x="338328" y="2743200"/>
              <a:ext cx="18836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44/51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39" name="Text 35"/>
            <p:cNvSpPr/>
            <p:nvPr/>
          </p:nvSpPr>
          <p:spPr>
            <a:xfrm>
              <a:off x="338328" y="3072384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E8B57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86.3 %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40" name="Shape 36"/>
            <p:cNvSpPr/>
            <p:nvPr/>
          </p:nvSpPr>
          <p:spPr>
            <a:xfrm>
              <a:off x="338328" y="3291840"/>
              <a:ext cx="1883664" cy="82296"/>
            </a:xfrm>
            <a:prstGeom prst="roundRect">
              <a:avLst>
                <a:gd name="adj" fmla="val 44444"/>
              </a:avLst>
            </a:prstGeom>
            <a:solidFill>
              <a:srgbClr val="E5E0D8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41" name="Shape 37"/>
            <p:cNvSpPr/>
            <p:nvPr/>
          </p:nvSpPr>
          <p:spPr>
            <a:xfrm>
              <a:off x="338328" y="3291840"/>
              <a:ext cx="1625602" cy="82296"/>
            </a:xfrm>
            <a:prstGeom prst="roundRect">
              <a:avLst>
                <a:gd name="adj" fmla="val 44444"/>
              </a:avLst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42" name="Text 38"/>
            <p:cNvSpPr/>
            <p:nvPr/>
          </p:nvSpPr>
          <p:spPr>
            <a:xfrm>
              <a:off x="338328" y="3429000"/>
              <a:ext cx="18836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Faltan 7 registros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43" name="Shape 39"/>
            <p:cNvSpPr/>
            <p:nvPr/>
          </p:nvSpPr>
          <p:spPr>
            <a:xfrm>
              <a:off x="2468880" y="2468880"/>
              <a:ext cx="2103120" cy="123444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44" name="Text 40"/>
            <p:cNvSpPr/>
            <p:nvPr/>
          </p:nvSpPr>
          <p:spPr>
            <a:xfrm>
              <a:off x="2578608" y="2560320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LAVADO (SEG)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45" name="Text 41"/>
            <p:cNvSpPr/>
            <p:nvPr/>
          </p:nvSpPr>
          <p:spPr>
            <a:xfrm>
              <a:off x="2578608" y="2743200"/>
              <a:ext cx="18836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48/51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46" name="Text 42"/>
            <p:cNvSpPr/>
            <p:nvPr/>
          </p:nvSpPr>
          <p:spPr>
            <a:xfrm>
              <a:off x="2578608" y="3072384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E8B57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94.1 %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47" name="Shape 43"/>
            <p:cNvSpPr/>
            <p:nvPr/>
          </p:nvSpPr>
          <p:spPr>
            <a:xfrm>
              <a:off x="2578608" y="3291840"/>
              <a:ext cx="1883664" cy="82296"/>
            </a:xfrm>
            <a:prstGeom prst="roundRect">
              <a:avLst>
                <a:gd name="adj" fmla="val 44444"/>
              </a:avLst>
            </a:prstGeom>
            <a:solidFill>
              <a:srgbClr val="E5E0D8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48" name="Shape 44"/>
            <p:cNvSpPr/>
            <p:nvPr/>
          </p:nvSpPr>
          <p:spPr>
            <a:xfrm>
              <a:off x="2578608" y="3291840"/>
              <a:ext cx="1772528" cy="82296"/>
            </a:xfrm>
            <a:prstGeom prst="roundRect">
              <a:avLst>
                <a:gd name="adj" fmla="val 44444"/>
              </a:avLst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49" name="Text 45"/>
            <p:cNvSpPr/>
            <p:nvPr/>
          </p:nvSpPr>
          <p:spPr>
            <a:xfrm>
              <a:off x="2578608" y="3429000"/>
              <a:ext cx="18836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Faltan 3 registros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50" name="Shape 46"/>
            <p:cNvSpPr/>
            <p:nvPr/>
          </p:nvSpPr>
          <p:spPr>
            <a:xfrm>
              <a:off x="4709160" y="2468880"/>
              <a:ext cx="2103120" cy="123444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51" name="Text 47"/>
            <p:cNvSpPr/>
            <p:nvPr/>
          </p:nvSpPr>
          <p:spPr>
            <a:xfrm>
              <a:off x="4818888" y="2560320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CUBRE FICHERO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52" name="Text 48"/>
            <p:cNvSpPr/>
            <p:nvPr/>
          </p:nvSpPr>
          <p:spPr>
            <a:xfrm>
              <a:off x="4818888" y="2743200"/>
              <a:ext cx="188366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16/51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53" name="Text 49"/>
            <p:cNvSpPr/>
            <p:nvPr/>
          </p:nvSpPr>
          <p:spPr>
            <a:xfrm>
              <a:off x="4818888" y="3072384"/>
              <a:ext cx="188366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31C23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31.4 %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54" name="Shape 50"/>
            <p:cNvSpPr/>
            <p:nvPr/>
          </p:nvSpPr>
          <p:spPr>
            <a:xfrm>
              <a:off x="4818888" y="3291840"/>
              <a:ext cx="1883664" cy="82296"/>
            </a:xfrm>
            <a:prstGeom prst="roundRect">
              <a:avLst>
                <a:gd name="adj" fmla="val 44444"/>
              </a:avLst>
            </a:prstGeom>
            <a:solidFill>
              <a:srgbClr val="E5E0D8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55" name="Shape 51"/>
            <p:cNvSpPr/>
            <p:nvPr/>
          </p:nvSpPr>
          <p:spPr>
            <a:xfrm>
              <a:off x="4818888" y="3291840"/>
              <a:ext cx="591470" cy="82296"/>
            </a:xfrm>
            <a:prstGeom prst="roundRect">
              <a:avLst>
                <a:gd name="adj" fmla="val 44444"/>
              </a:avLst>
            </a:prstGeom>
            <a:solidFill>
              <a:srgbClr val="E31C23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56" name="Text 52"/>
            <p:cNvSpPr/>
            <p:nvPr/>
          </p:nvSpPr>
          <p:spPr>
            <a:xfrm>
              <a:off x="4818888" y="3429000"/>
              <a:ext cx="188366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14 Sí · 2 No · 35 sin dato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57" name="Shape 53"/>
            <p:cNvSpPr/>
            <p:nvPr/>
          </p:nvSpPr>
          <p:spPr>
            <a:xfrm>
              <a:off x="228600" y="3840480"/>
              <a:ext cx="8686800" cy="109728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58" name="Text 54"/>
            <p:cNvSpPr/>
            <p:nvPr/>
          </p:nvSpPr>
          <p:spPr>
            <a:xfrm>
              <a:off x="365760" y="3950208"/>
              <a:ext cx="84124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PROMEDIOS OPERATIVOS  ·  solo registros con dato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  <p:sp>
          <p:nvSpPr>
            <p:cNvPr id="59" name="Text 55"/>
            <p:cNvSpPr/>
            <p:nvPr/>
          </p:nvSpPr>
          <p:spPr>
            <a:xfrm>
              <a:off x="457200" y="4206240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40.3 %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  <p:sp>
          <p:nvSpPr>
            <p:cNvPr id="60" name="Text 56"/>
            <p:cNvSpPr/>
            <p:nvPr/>
          </p:nvSpPr>
          <p:spPr>
            <a:xfrm>
              <a:off x="457200" y="4526280"/>
              <a:ext cx="20116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CERA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  <p:sp>
          <p:nvSpPr>
            <p:cNvPr id="61" name="Text 57"/>
            <p:cNvSpPr/>
            <p:nvPr/>
          </p:nvSpPr>
          <p:spPr>
            <a:xfrm>
              <a:off x="457200" y="4690872"/>
              <a:ext cx="20116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46 registros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62" name="Text 58"/>
            <p:cNvSpPr/>
            <p:nvPr/>
          </p:nvSpPr>
          <p:spPr>
            <a:xfrm>
              <a:off x="2606040" y="4206240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38.6 %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  <p:sp>
          <p:nvSpPr>
            <p:cNvPr id="63" name="Text 59"/>
            <p:cNvSpPr/>
            <p:nvPr/>
          </p:nvSpPr>
          <p:spPr>
            <a:xfrm>
              <a:off x="2606040" y="4526280"/>
              <a:ext cx="20116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SHAMPOO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  <p:sp>
          <p:nvSpPr>
            <p:cNvPr id="64" name="Text 60"/>
            <p:cNvSpPr/>
            <p:nvPr/>
          </p:nvSpPr>
          <p:spPr>
            <a:xfrm>
              <a:off x="2606040" y="4690872"/>
              <a:ext cx="20116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46 registros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65" name="Text 61"/>
            <p:cNvSpPr/>
            <p:nvPr/>
          </p:nvSpPr>
          <p:spPr>
            <a:xfrm>
              <a:off x="4754880" y="4206240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37.7 %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  <p:sp>
          <p:nvSpPr>
            <p:cNvPr id="66" name="Text 62"/>
            <p:cNvSpPr/>
            <p:nvPr/>
          </p:nvSpPr>
          <p:spPr>
            <a:xfrm>
              <a:off x="4754880" y="4526280"/>
              <a:ext cx="20116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CEPILLO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  <p:sp>
          <p:nvSpPr>
            <p:cNvPr id="67" name="Text 63"/>
            <p:cNvSpPr/>
            <p:nvPr/>
          </p:nvSpPr>
          <p:spPr>
            <a:xfrm>
              <a:off x="4754880" y="4690872"/>
              <a:ext cx="20116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44 registros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68" name="Text 64"/>
            <p:cNvSpPr/>
            <p:nvPr/>
          </p:nvSpPr>
          <p:spPr>
            <a:xfrm>
              <a:off x="6903720" y="4206240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210 seg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  <p:sp>
          <p:nvSpPr>
            <p:cNvPr id="69" name="Text 65"/>
            <p:cNvSpPr/>
            <p:nvPr/>
          </p:nvSpPr>
          <p:spPr>
            <a:xfrm>
              <a:off x="6903720" y="4526280"/>
              <a:ext cx="20116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LAVADO TÍPICO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  <p:sp>
          <p:nvSpPr>
            <p:cNvPr id="70" name="Text 66"/>
            <p:cNvSpPr/>
            <p:nvPr/>
          </p:nvSpPr>
          <p:spPr>
            <a:xfrm>
              <a:off x="6903720" y="4690872"/>
              <a:ext cx="201168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47 usan 210 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pic>
          <p:nvPicPr>
            <p:cNvPr id="74" name="Image 1" descr="shell_logo.png">
              <a:extLst>
                <a:ext uri="{FF2B5EF4-FFF2-40B4-BE49-F238E27FC236}">
                  <a16:creationId xmlns:a16="http://schemas.microsoft.com/office/drawing/2014/main" id="{3FF73DE3-65A8-7253-A321-20169CC55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11946" y="64008"/>
              <a:ext cx="549173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upo 88">
            <a:extLst>
              <a:ext uri="{FF2B5EF4-FFF2-40B4-BE49-F238E27FC236}">
                <a16:creationId xmlns:a16="http://schemas.microsoft.com/office/drawing/2014/main" id="{B716D895-0793-BADC-40CE-38C5CCAC70FC}"/>
              </a:ext>
            </a:extLst>
          </p:cNvPr>
          <p:cNvGrpSpPr/>
          <p:nvPr/>
        </p:nvGrpSpPr>
        <p:grpSpPr>
          <a:xfrm>
            <a:off x="0" y="0"/>
            <a:ext cx="9144000" cy="4937760"/>
            <a:chOff x="0" y="0"/>
            <a:chExt cx="9144000" cy="493776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5943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5" name="Text 1"/>
            <p:cNvSpPr/>
            <p:nvPr/>
          </p:nvSpPr>
          <p:spPr>
            <a:xfrm>
              <a:off x="1384917" y="91440"/>
              <a:ext cx="647892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 Desglose de valores registrados</a:t>
              </a:r>
              <a:endParaRPr lang="en-US" sz="1600" dirty="0">
                <a:latin typeface="Aptos" panose="020B0004020202020204" pitchFamily="34" charset="0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1463040" y="329184"/>
              <a:ext cx="64008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SHELL  ·  Julio 2026  ·  Distribución de los datos disponibles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  <p:sp>
          <p:nvSpPr>
            <p:cNvPr id="7" name="Shape 3"/>
            <p:cNvSpPr/>
            <p:nvPr/>
          </p:nvSpPr>
          <p:spPr>
            <a:xfrm>
              <a:off x="228600" y="731520"/>
              <a:ext cx="4297680" cy="2148840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8" name="Text 4"/>
            <p:cNvSpPr/>
            <p:nvPr/>
          </p:nvSpPr>
          <p:spPr>
            <a:xfrm>
              <a:off x="365760" y="841248"/>
              <a:ext cx="40233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TIPO DE BOMBA  ·  25 de 51 registros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9" name="Shape 5"/>
            <p:cNvSpPr/>
            <p:nvPr/>
          </p:nvSpPr>
          <p:spPr>
            <a:xfrm>
              <a:off x="411480" y="1179576"/>
              <a:ext cx="128016" cy="128016"/>
            </a:xfrm>
            <a:prstGeom prst="ellipse">
              <a:avLst/>
            </a:prstGeom>
            <a:solidFill>
              <a:srgbClr val="1E5F8A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640080" y="1143000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Seko (Azul)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3017520" y="1143000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10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3520440" y="1143000"/>
              <a:ext cx="7772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19.6%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411480" y="1435608"/>
              <a:ext cx="128016" cy="128016"/>
            </a:xfrm>
            <a:prstGeom prst="ellipse">
              <a:avLst/>
            </a:prstGeom>
            <a:solidFill>
              <a:srgbClr val="2E8B57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4" name="Text 10"/>
            <p:cNvSpPr/>
            <p:nvPr/>
          </p:nvSpPr>
          <p:spPr>
            <a:xfrm>
              <a:off x="640080" y="1399032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Emec (Verde)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15" name="Text 11"/>
            <p:cNvSpPr/>
            <p:nvPr/>
          </p:nvSpPr>
          <p:spPr>
            <a:xfrm>
              <a:off x="3017520" y="1399032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8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3520440" y="1399032"/>
              <a:ext cx="7772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15.7%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17" name="Shape 13"/>
            <p:cNvSpPr/>
            <p:nvPr/>
          </p:nvSpPr>
          <p:spPr>
            <a:xfrm>
              <a:off x="411480" y="1691640"/>
              <a:ext cx="128016" cy="128016"/>
            </a:xfrm>
            <a:prstGeom prst="ellipse">
              <a:avLst/>
            </a:prstGeom>
            <a:solidFill>
              <a:srgbClr val="6B5B95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18" name="Text 14"/>
            <p:cNvSpPr/>
            <p:nvPr/>
          </p:nvSpPr>
          <p:spPr>
            <a:xfrm>
              <a:off x="640080" y="1655064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Invikta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19" name="Text 15"/>
            <p:cNvSpPr/>
            <p:nvPr/>
          </p:nvSpPr>
          <p:spPr>
            <a:xfrm>
              <a:off x="3017520" y="1655064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20" name="Text 16"/>
            <p:cNvSpPr/>
            <p:nvPr/>
          </p:nvSpPr>
          <p:spPr>
            <a:xfrm>
              <a:off x="3520440" y="1655064"/>
              <a:ext cx="7772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5.9%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21" name="Shape 17"/>
            <p:cNvSpPr/>
            <p:nvPr/>
          </p:nvSpPr>
          <p:spPr>
            <a:xfrm>
              <a:off x="411480" y="1947672"/>
              <a:ext cx="128016" cy="128016"/>
            </a:xfrm>
            <a:prstGeom prst="ellipse">
              <a:avLst/>
            </a:prstGeom>
            <a:solidFill>
              <a:srgbClr val="E67E22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2" name="Text 18"/>
            <p:cNvSpPr/>
            <p:nvPr/>
          </p:nvSpPr>
          <p:spPr>
            <a:xfrm>
              <a:off x="640080" y="1911096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Bomba Peristáltica (China)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23" name="Text 19"/>
            <p:cNvSpPr/>
            <p:nvPr/>
          </p:nvSpPr>
          <p:spPr>
            <a:xfrm>
              <a:off x="3017520" y="1911096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24" name="Text 20"/>
            <p:cNvSpPr/>
            <p:nvPr/>
          </p:nvSpPr>
          <p:spPr>
            <a:xfrm>
              <a:off x="3520440" y="1911096"/>
              <a:ext cx="7772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3.9%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25" name="Shape 21"/>
            <p:cNvSpPr/>
            <p:nvPr/>
          </p:nvSpPr>
          <p:spPr>
            <a:xfrm>
              <a:off x="411480" y="2203704"/>
              <a:ext cx="128016" cy="128016"/>
            </a:xfrm>
            <a:prstGeom prst="ellipse">
              <a:avLst/>
            </a:prstGeom>
            <a:solidFill>
              <a:srgbClr val="16A085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6" name="Text 22"/>
            <p:cNvSpPr/>
            <p:nvPr/>
          </p:nvSpPr>
          <p:spPr>
            <a:xfrm>
              <a:off x="640080" y="2167128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Aquarama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27" name="Text 23"/>
            <p:cNvSpPr/>
            <p:nvPr/>
          </p:nvSpPr>
          <p:spPr>
            <a:xfrm>
              <a:off x="3017520" y="2167128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28" name="Text 24"/>
            <p:cNvSpPr/>
            <p:nvPr/>
          </p:nvSpPr>
          <p:spPr>
            <a:xfrm>
              <a:off x="3520440" y="2167128"/>
              <a:ext cx="7772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3.9%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29" name="Shape 25"/>
            <p:cNvSpPr/>
            <p:nvPr/>
          </p:nvSpPr>
          <p:spPr>
            <a:xfrm>
              <a:off x="411480" y="2459736"/>
              <a:ext cx="128016" cy="128016"/>
            </a:xfrm>
            <a:prstGeom prst="ellipse">
              <a:avLst/>
            </a:prstGeom>
            <a:solidFill>
              <a:srgbClr val="95A5A6"/>
            </a:solidFill>
            <a:ln/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30" name="Text 26"/>
            <p:cNvSpPr/>
            <p:nvPr/>
          </p:nvSpPr>
          <p:spPr>
            <a:xfrm>
              <a:off x="640080" y="2423160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Sin datos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3017520" y="2423160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26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3520440" y="2423160"/>
              <a:ext cx="7772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51.0%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228600" y="3017520"/>
              <a:ext cx="4297680" cy="192024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34" name="Text 30"/>
            <p:cNvSpPr/>
            <p:nvPr/>
          </p:nvSpPr>
          <p:spPr>
            <a:xfrm>
              <a:off x="365760" y="3127248"/>
              <a:ext cx="40233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PRODUCCIÓN LTS/HR  ·  35 de 51 registros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35" name="Text 31"/>
            <p:cNvSpPr/>
            <p:nvPr/>
          </p:nvSpPr>
          <p:spPr>
            <a:xfrm>
              <a:off x="411480" y="342900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 L/H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36" name="Text 32"/>
            <p:cNvSpPr/>
            <p:nvPr/>
          </p:nvSpPr>
          <p:spPr>
            <a:xfrm>
              <a:off x="2834640" y="3429000"/>
              <a:ext cx="502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11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37" name="Text 33"/>
            <p:cNvSpPr/>
            <p:nvPr/>
          </p:nvSpPr>
          <p:spPr>
            <a:xfrm>
              <a:off x="3429000" y="3429000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21.6%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38" name="Text 34"/>
            <p:cNvSpPr/>
            <p:nvPr/>
          </p:nvSpPr>
          <p:spPr>
            <a:xfrm>
              <a:off x="411480" y="365760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 L/H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39" name="Text 35"/>
            <p:cNvSpPr/>
            <p:nvPr/>
          </p:nvSpPr>
          <p:spPr>
            <a:xfrm>
              <a:off x="2834640" y="3657600"/>
              <a:ext cx="502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11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40" name="Text 36"/>
            <p:cNvSpPr/>
            <p:nvPr/>
          </p:nvSpPr>
          <p:spPr>
            <a:xfrm>
              <a:off x="3429000" y="3657600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21.6%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41" name="Text 37"/>
            <p:cNvSpPr/>
            <p:nvPr/>
          </p:nvSpPr>
          <p:spPr>
            <a:xfrm>
              <a:off x="411480" y="388620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 L/H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42" name="Text 38"/>
            <p:cNvSpPr/>
            <p:nvPr/>
          </p:nvSpPr>
          <p:spPr>
            <a:xfrm>
              <a:off x="2834640" y="3886200"/>
              <a:ext cx="502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7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43" name="Text 39"/>
            <p:cNvSpPr/>
            <p:nvPr/>
          </p:nvSpPr>
          <p:spPr>
            <a:xfrm>
              <a:off x="3429000" y="3886200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13.7%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44" name="Text 40"/>
            <p:cNvSpPr/>
            <p:nvPr/>
          </p:nvSpPr>
          <p:spPr>
            <a:xfrm>
              <a:off x="411480" y="411480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5 L/H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45" name="Text 41"/>
            <p:cNvSpPr/>
            <p:nvPr/>
          </p:nvSpPr>
          <p:spPr>
            <a:xfrm>
              <a:off x="2834640" y="4114800"/>
              <a:ext cx="502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46" name="Text 42"/>
            <p:cNvSpPr/>
            <p:nvPr/>
          </p:nvSpPr>
          <p:spPr>
            <a:xfrm>
              <a:off x="3429000" y="4114800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5.9%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47" name="Text 43"/>
            <p:cNvSpPr/>
            <p:nvPr/>
          </p:nvSpPr>
          <p:spPr>
            <a:xfrm>
              <a:off x="411480" y="434340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125 / 100 (atípicos)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48" name="Text 44"/>
            <p:cNvSpPr/>
            <p:nvPr/>
          </p:nvSpPr>
          <p:spPr>
            <a:xfrm>
              <a:off x="2834640" y="4343400"/>
              <a:ext cx="502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49" name="Text 45"/>
            <p:cNvSpPr/>
            <p:nvPr/>
          </p:nvSpPr>
          <p:spPr>
            <a:xfrm>
              <a:off x="3429000" y="4343400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5.9%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50" name="Text 46"/>
            <p:cNvSpPr/>
            <p:nvPr/>
          </p:nvSpPr>
          <p:spPr>
            <a:xfrm>
              <a:off x="411480" y="457200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Sin datos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51" name="Text 47"/>
            <p:cNvSpPr/>
            <p:nvPr/>
          </p:nvSpPr>
          <p:spPr>
            <a:xfrm>
              <a:off x="2834640" y="4572000"/>
              <a:ext cx="5029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16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52" name="Text 48"/>
            <p:cNvSpPr/>
            <p:nvPr/>
          </p:nvSpPr>
          <p:spPr>
            <a:xfrm>
              <a:off x="3429000" y="4572000"/>
              <a:ext cx="822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31.4%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53" name="Shape 49"/>
            <p:cNvSpPr/>
            <p:nvPr/>
          </p:nvSpPr>
          <p:spPr>
            <a:xfrm>
              <a:off x="4709160" y="731520"/>
              <a:ext cx="4206240" cy="2148840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54" name="Text 50"/>
            <p:cNvSpPr/>
            <p:nvPr/>
          </p:nvSpPr>
          <p:spPr>
            <a:xfrm>
              <a:off x="4846320" y="841248"/>
              <a:ext cx="3931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CONSUMO DE INSUMOS  ·  promedios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55" name="Text 51"/>
            <p:cNvSpPr/>
            <p:nvPr/>
          </p:nvSpPr>
          <p:spPr>
            <a:xfrm>
              <a:off x="4937760" y="1188720"/>
              <a:ext cx="1234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40.3%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56" name="Text 52"/>
            <p:cNvSpPr/>
            <p:nvPr/>
          </p:nvSpPr>
          <p:spPr>
            <a:xfrm>
              <a:off x="4937760" y="1554480"/>
              <a:ext cx="12344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CERA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57" name="Text 53"/>
            <p:cNvSpPr/>
            <p:nvPr/>
          </p:nvSpPr>
          <p:spPr>
            <a:xfrm>
              <a:off x="4937760" y="1737360"/>
              <a:ext cx="12344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46 reg.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58" name="Text 54"/>
            <p:cNvSpPr/>
            <p:nvPr/>
          </p:nvSpPr>
          <p:spPr>
            <a:xfrm>
              <a:off x="4937760" y="1920240"/>
              <a:ext cx="1234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Más frecuente: 30% (11)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59" name="Text 55"/>
            <p:cNvSpPr/>
            <p:nvPr/>
          </p:nvSpPr>
          <p:spPr>
            <a:xfrm>
              <a:off x="6263640" y="1188720"/>
              <a:ext cx="1234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38.6%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60" name="Text 56"/>
            <p:cNvSpPr/>
            <p:nvPr/>
          </p:nvSpPr>
          <p:spPr>
            <a:xfrm>
              <a:off x="6263640" y="1554480"/>
              <a:ext cx="12344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SHAMPOO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61" name="Text 57"/>
            <p:cNvSpPr/>
            <p:nvPr/>
          </p:nvSpPr>
          <p:spPr>
            <a:xfrm>
              <a:off x="6263640" y="1737360"/>
              <a:ext cx="12344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46 reg.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62" name="Text 58"/>
            <p:cNvSpPr/>
            <p:nvPr/>
          </p:nvSpPr>
          <p:spPr>
            <a:xfrm>
              <a:off x="6263640" y="1920240"/>
              <a:ext cx="1234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Más frecuente: 30% (13)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63" name="Text 59"/>
            <p:cNvSpPr/>
            <p:nvPr/>
          </p:nvSpPr>
          <p:spPr>
            <a:xfrm>
              <a:off x="7589520" y="1188720"/>
              <a:ext cx="1234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37.7%</a:t>
              </a:r>
              <a:endParaRPr lang="en-US" sz="2200" dirty="0">
                <a:latin typeface="Aptos" panose="020B0004020202020204" pitchFamily="34" charset="0"/>
              </a:endParaRPr>
            </a:p>
          </p:txBody>
        </p:sp>
        <p:sp>
          <p:nvSpPr>
            <p:cNvPr id="64" name="Text 60"/>
            <p:cNvSpPr/>
            <p:nvPr/>
          </p:nvSpPr>
          <p:spPr>
            <a:xfrm>
              <a:off x="7589520" y="1554480"/>
              <a:ext cx="12344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CEPILLO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65" name="Text 61"/>
            <p:cNvSpPr/>
            <p:nvPr/>
          </p:nvSpPr>
          <p:spPr>
            <a:xfrm>
              <a:off x="7589520" y="1737360"/>
              <a:ext cx="12344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44 reg.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66" name="Text 62"/>
            <p:cNvSpPr/>
            <p:nvPr/>
          </p:nvSpPr>
          <p:spPr>
            <a:xfrm>
              <a:off x="7589520" y="1920240"/>
              <a:ext cx="1234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Más frecuente: 30% (11)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67" name="Text 63"/>
            <p:cNvSpPr/>
            <p:nvPr/>
          </p:nvSpPr>
          <p:spPr>
            <a:xfrm>
              <a:off x="4892040" y="2377440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Distribución Cera: 20% (6) · 30% (11) · 40% (7) · 50% (9) · 60% (8) + otros</a:t>
              </a:r>
              <a:endParaRPr lang="en-US" sz="900" dirty="0">
                <a:latin typeface="Aptos" panose="020B0004020202020204" pitchFamily="34" charset="0"/>
              </a:endParaRPr>
            </a:p>
          </p:txBody>
        </p:sp>
        <p:sp>
          <p:nvSpPr>
            <p:cNvPr id="68" name="Shape 64"/>
            <p:cNvSpPr/>
            <p:nvPr/>
          </p:nvSpPr>
          <p:spPr>
            <a:xfrm>
              <a:off x="4709160" y="3017520"/>
              <a:ext cx="2011680" cy="192024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69" name="Text 65"/>
            <p:cNvSpPr/>
            <p:nvPr/>
          </p:nvSpPr>
          <p:spPr>
            <a:xfrm>
              <a:off x="4846320" y="3090672"/>
              <a:ext cx="17373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LAVADO (SEG)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70" name="Text 66"/>
            <p:cNvSpPr/>
            <p:nvPr/>
          </p:nvSpPr>
          <p:spPr>
            <a:xfrm>
              <a:off x="4846320" y="3273552"/>
              <a:ext cx="1737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210</a:t>
              </a:r>
              <a:endParaRPr lang="en-US" sz="2400" dirty="0">
                <a:latin typeface="Aptos" panose="020B0004020202020204" pitchFamily="34" charset="0"/>
              </a:endParaRPr>
            </a:p>
          </p:txBody>
        </p:sp>
        <p:sp>
          <p:nvSpPr>
            <p:cNvPr id="71" name="Text 67"/>
            <p:cNvSpPr/>
            <p:nvPr/>
          </p:nvSpPr>
          <p:spPr>
            <a:xfrm>
              <a:off x="4846320" y="3566160"/>
              <a:ext cx="17373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segundos  ·  47 reg.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  <p:sp>
          <p:nvSpPr>
            <p:cNvPr id="72" name="Text 68"/>
            <p:cNvSpPr/>
            <p:nvPr/>
          </p:nvSpPr>
          <p:spPr>
            <a:xfrm>
              <a:off x="4846320" y="3767328"/>
              <a:ext cx="173736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Excepciones (Julio):</a:t>
              </a:r>
              <a:endParaRPr lang="en-US" sz="850" dirty="0">
                <a:latin typeface="Aptos" panose="020B0004020202020204" pitchFamily="34" charset="0"/>
              </a:endParaRPr>
            </a:p>
          </p:txBody>
        </p:sp>
        <p:sp>
          <p:nvSpPr>
            <p:cNvPr id="73" name="Text 69"/>
            <p:cNvSpPr/>
            <p:nvPr/>
          </p:nvSpPr>
          <p:spPr>
            <a:xfrm>
              <a:off x="4846320" y="3904488"/>
              <a:ext cx="1737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SH_583 → 0 s</a:t>
              </a:r>
              <a:endParaRPr lang="en-US" sz="800" dirty="0">
                <a:latin typeface="Aptos" panose="020B0004020202020204" pitchFamily="34" charset="0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SH_2 · SH_41 · SH_36 sin dato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74" name="Text 70"/>
            <p:cNvSpPr/>
            <p:nvPr/>
          </p:nvSpPr>
          <p:spPr>
            <a:xfrm>
              <a:off x="4846320" y="4224528"/>
              <a:ext cx="173736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Atípicos (Junio):</a:t>
              </a:r>
              <a:endParaRPr lang="en-US" sz="850" dirty="0">
                <a:latin typeface="Aptos" panose="020B0004020202020204" pitchFamily="34" charset="0"/>
              </a:endParaRPr>
            </a:p>
          </p:txBody>
        </p:sp>
        <p:sp>
          <p:nvSpPr>
            <p:cNvPr id="75" name="Text 71"/>
            <p:cNvSpPr/>
            <p:nvPr/>
          </p:nvSpPr>
          <p:spPr>
            <a:xfrm>
              <a:off x="4846320" y="4361688"/>
              <a:ext cx="17373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SH_69 → 330 s</a:t>
              </a:r>
              <a:endParaRPr lang="en-US" sz="800" dirty="0">
                <a:latin typeface="Aptos" panose="020B0004020202020204" pitchFamily="34" charset="0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SH_234 → 500 s</a:t>
              </a:r>
              <a:endParaRPr lang="en-US" sz="800" dirty="0">
                <a:latin typeface="Aptos" panose="020B0004020202020204" pitchFamily="34" charset="0"/>
              </a:endParaRPr>
            </a:p>
            <a:p>
              <a:pPr marL="0" indent="0">
                <a:buNone/>
              </a:pPr>
              <a:r>
                <a:rPr lang="en-US" sz="8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SH_152 → 240 s</a:t>
              </a:r>
              <a:endParaRPr lang="en-US" sz="800" dirty="0">
                <a:latin typeface="Aptos" panose="020B0004020202020204" pitchFamily="34" charset="0"/>
              </a:endParaRPr>
            </a:p>
          </p:txBody>
        </p:sp>
        <p:sp>
          <p:nvSpPr>
            <p:cNvPr id="76" name="Shape 72"/>
            <p:cNvSpPr/>
            <p:nvPr/>
          </p:nvSpPr>
          <p:spPr>
            <a:xfrm>
              <a:off x="6858000" y="3017520"/>
              <a:ext cx="2057400" cy="192024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/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77" name="Text 73"/>
            <p:cNvSpPr/>
            <p:nvPr/>
          </p:nvSpPr>
          <p:spPr>
            <a:xfrm>
              <a:off x="6995160" y="3127248"/>
              <a:ext cx="17830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A4D8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CUBRE FICHERO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78" name="Text 74"/>
            <p:cNvSpPr/>
            <p:nvPr/>
          </p:nvSpPr>
          <p:spPr>
            <a:xfrm>
              <a:off x="6995160" y="3383280"/>
              <a:ext cx="8229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2E8B57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14</a:t>
              </a:r>
              <a:endParaRPr lang="en-US" sz="2400" dirty="0">
                <a:latin typeface="Aptos" panose="020B0004020202020204" pitchFamily="34" charset="0"/>
              </a:endParaRPr>
            </a:p>
          </p:txBody>
        </p:sp>
        <p:sp>
          <p:nvSpPr>
            <p:cNvPr id="79" name="Text 75"/>
            <p:cNvSpPr/>
            <p:nvPr/>
          </p:nvSpPr>
          <p:spPr>
            <a:xfrm>
              <a:off x="7772400" y="347472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Sí</a:t>
              </a:r>
              <a:endParaRPr lang="en-US" sz="1400" dirty="0">
                <a:latin typeface="Aptos" panose="020B0004020202020204" pitchFamily="34" charset="0"/>
              </a:endParaRPr>
            </a:p>
          </p:txBody>
        </p:sp>
        <p:sp>
          <p:nvSpPr>
            <p:cNvPr id="80" name="Text 76"/>
            <p:cNvSpPr/>
            <p:nvPr/>
          </p:nvSpPr>
          <p:spPr>
            <a:xfrm>
              <a:off x="6995160" y="3794760"/>
              <a:ext cx="8229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E31C23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2400" dirty="0">
                <a:latin typeface="Aptos" panose="020B0004020202020204" pitchFamily="34" charset="0"/>
              </a:endParaRPr>
            </a:p>
          </p:txBody>
        </p:sp>
        <p:sp>
          <p:nvSpPr>
            <p:cNvPr id="81" name="Text 77"/>
            <p:cNvSpPr/>
            <p:nvPr/>
          </p:nvSpPr>
          <p:spPr>
            <a:xfrm>
              <a:off x="7772400" y="388620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A2A4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No</a:t>
              </a:r>
              <a:endParaRPr lang="en-US" sz="1400" dirty="0">
                <a:latin typeface="Aptos" panose="020B0004020202020204" pitchFamily="34" charset="0"/>
              </a:endParaRPr>
            </a:p>
          </p:txBody>
        </p:sp>
        <p:sp>
          <p:nvSpPr>
            <p:cNvPr id="82" name="Text 78"/>
            <p:cNvSpPr/>
            <p:nvPr/>
          </p:nvSpPr>
          <p:spPr>
            <a:xfrm>
              <a:off x="6995160" y="4206240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35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  <p:sp>
          <p:nvSpPr>
            <p:cNvPr id="83" name="Text 79"/>
            <p:cNvSpPr/>
            <p:nvPr/>
          </p:nvSpPr>
          <p:spPr>
            <a:xfrm>
              <a:off x="7772400" y="4279392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sin dato</a:t>
              </a:r>
              <a:endParaRPr lang="en-US" sz="1200" dirty="0">
                <a:latin typeface="Aptos" panose="020B0004020202020204" pitchFamily="34" charset="0"/>
              </a:endParaRPr>
            </a:p>
          </p:txBody>
        </p:sp>
        <p:sp>
          <p:nvSpPr>
            <p:cNvPr id="84" name="Text 80"/>
            <p:cNvSpPr/>
            <p:nvPr/>
          </p:nvSpPr>
          <p:spPr>
            <a:xfrm>
              <a:off x="6995160" y="4617720"/>
              <a:ext cx="1783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31.4% con info</a:t>
              </a:r>
              <a:endParaRPr lang="en-US" sz="1000" dirty="0">
                <a:latin typeface="Aptos" panose="020B0004020202020204" pitchFamily="34" charset="0"/>
              </a:endParaRPr>
            </a:p>
          </p:txBody>
        </p:sp>
        <p:pic>
          <p:nvPicPr>
            <p:cNvPr id="86" name="Image 0" descr="occim_logo.png">
              <a:extLst>
                <a:ext uri="{FF2B5EF4-FFF2-40B4-BE49-F238E27FC236}">
                  <a16:creationId xmlns:a16="http://schemas.microsoft.com/office/drawing/2014/main" id="{A0462BA7-5F80-9D77-BDB0-DA37502B8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8328" y="100584"/>
              <a:ext cx="668045" cy="420624"/>
            </a:xfrm>
            <a:prstGeom prst="rect">
              <a:avLst/>
            </a:prstGeom>
          </p:spPr>
        </p:pic>
        <p:pic>
          <p:nvPicPr>
            <p:cNvPr id="88" name="Image 1" descr="shell_logo.png">
              <a:extLst>
                <a:ext uri="{FF2B5EF4-FFF2-40B4-BE49-F238E27FC236}">
                  <a16:creationId xmlns:a16="http://schemas.microsoft.com/office/drawing/2014/main" id="{A2984078-05A7-05AD-21AD-9CFE9CDD5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11946" y="64008"/>
              <a:ext cx="549173" cy="475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377</Words>
  <Application>Microsoft Office PowerPoint</Application>
  <PresentationFormat>Presentación en pantalla (16:9)</PresentationFormat>
  <Paragraphs>118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 de Equipos y Consumo - Shell Julio 2026</dc:title>
  <dc:subject>Completitud y contenido del registro de Julio 2026</dc:subject>
  <dc:creator>OCCIM</dc:creator>
  <cp:lastModifiedBy>Jesus Adolfo Gavidia</cp:lastModifiedBy>
  <cp:revision>2</cp:revision>
  <dcterms:created xsi:type="dcterms:W3CDTF">2026-07-24T17:59:34Z</dcterms:created>
  <dcterms:modified xsi:type="dcterms:W3CDTF">2026-07-24T18:06:02Z</dcterms:modified>
</cp:coreProperties>
</file>